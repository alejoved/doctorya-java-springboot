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566160"/>
            <a:ext cx="9144000" cy="1577340"/>
          </a:xfrm>
          <a:prstGeom prst="rect">
            <a:avLst/>
          </a:prstGeom>
          <a:solidFill>
            <a:srgbClr val="1E2435"/>
          </a:solidFill>
          <a:ln w="12700">
            <a:solidFill>
              <a:srgbClr val="1E24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de Automatización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Pruebas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4231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 en 5 fases · Con ejemplos de código reales por tecnología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3749040"/>
            <a:ext cx="1508760" cy="36576"/>
          </a:xfrm>
          <a:prstGeom prst="rect">
            <a:avLst/>
          </a:prstGeom>
          <a:solidFill>
            <a:srgbClr val="4F8EF7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384048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Diagnóstico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03120" y="3749040"/>
            <a:ext cx="1508760" cy="36576"/>
          </a:xfrm>
          <a:prstGeom prst="rect">
            <a:avLst/>
          </a:prstGeom>
          <a:solidFill>
            <a:srgbClr val="4F8EF7">
              <a:alpha val="4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03120" y="384048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Estándares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94760" y="3749040"/>
            <a:ext cx="1508760" cy="36576"/>
          </a:xfrm>
          <a:prstGeom prst="rect">
            <a:avLst/>
          </a:prstGeom>
          <a:solidFill>
            <a:srgbClr val="4F8EF7">
              <a:alpha val="4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94760" y="384048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Herramientas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0" y="3749040"/>
            <a:ext cx="1508760" cy="36576"/>
          </a:xfrm>
          <a:prstGeom prst="rect">
            <a:avLst/>
          </a:prstGeom>
          <a:solidFill>
            <a:srgbClr val="4F8EF7">
              <a:alpha val="4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384048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Piloto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78040" y="3749040"/>
            <a:ext cx="1508760" cy="36576"/>
          </a:xfrm>
          <a:prstGeom prst="rect">
            <a:avLst/>
          </a:prstGeom>
          <a:solidFill>
            <a:srgbClr val="4F8EF7">
              <a:alpha val="40000"/>
            </a:srgbClr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78040" y="3840480"/>
            <a:ext cx="1508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Implementación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Hoja de Ruta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fases secuenciales · Cada fase tiene estándares, herramientas y código de referencia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1645920" y="1828800"/>
            <a:ext cx="438912" cy="0"/>
          </a:xfrm>
          <a:prstGeom prst="line">
            <a:avLst/>
          </a:prstGeom>
          <a:noFill/>
          <a:ln w="19050">
            <a:solidFill>
              <a:srgbClr val="DEE5F2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365760" y="1143000"/>
            <a:ext cx="1508760" cy="32004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1325880"/>
            <a:ext cx="502920" cy="50292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9202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38912" y="23042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4992" y="1828800"/>
            <a:ext cx="438912" cy="0"/>
          </a:xfrm>
          <a:prstGeom prst="line">
            <a:avLst/>
          </a:prstGeom>
          <a:noFill/>
          <a:ln w="19050">
            <a:solidFill>
              <a:srgbClr val="DEE5F2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084832" y="1143000"/>
            <a:ext cx="1508760" cy="32004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87752" y="1325880"/>
            <a:ext cx="502920" cy="502920"/>
          </a:xfrm>
          <a:prstGeom prst="ellipse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87752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57984" y="19202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57984" y="23042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2–3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4064" y="1828800"/>
            <a:ext cx="438912" cy="0"/>
          </a:xfrm>
          <a:prstGeom prst="line">
            <a:avLst/>
          </a:prstGeom>
          <a:noFill/>
          <a:ln w="19050">
            <a:solidFill>
              <a:srgbClr val="DEE5F2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803904" y="1143000"/>
            <a:ext cx="1508760" cy="32004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06824" y="1325880"/>
            <a:ext cx="502920" cy="5029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6824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77056" y="19202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77056" y="23042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capa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03136" y="1828800"/>
            <a:ext cx="438912" cy="0"/>
          </a:xfrm>
          <a:prstGeom prst="line">
            <a:avLst/>
          </a:prstGeom>
          <a:noFill/>
          <a:ln w="19050">
            <a:solidFill>
              <a:srgbClr val="DEE5F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522976" y="1143000"/>
            <a:ext cx="1508760" cy="32004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25896" y="1325880"/>
            <a:ext cx="502920" cy="502920"/>
          </a:xfrm>
          <a:prstGeom prst="ellipse">
            <a:avLst/>
          </a:prstGeom>
          <a:solidFill>
            <a:srgbClr val="9B6DFF"/>
          </a:solidFill>
          <a:ln w="12700">
            <a:solidFill>
              <a:srgbClr val="9B6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25896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96128" y="19202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96128" y="23042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42048" y="1143000"/>
            <a:ext cx="1508760" cy="320040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44968" y="1325880"/>
            <a:ext cx="502920" cy="502920"/>
          </a:xfrm>
          <a:prstGeom prst="ellipse">
            <a:avLst/>
          </a:prstGeom>
          <a:solidFill>
            <a:srgbClr val="F06292"/>
          </a:solidFill>
          <a:ln w="12700">
            <a:solidFill>
              <a:srgbClr val="F0629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44968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315200" y="192024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0" y="23042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4572000"/>
            <a:ext cx="8412480" cy="320040"/>
          </a:xfrm>
          <a:prstGeom prst="roundRect">
            <a:avLst>
              <a:gd name="adj" fmla="val 14286"/>
            </a:avLst>
          </a:prstGeom>
          <a:solidFill>
            <a:srgbClr val="1E2435"/>
          </a:solidFill>
          <a:ln w="6350">
            <a:solidFill>
              <a:srgbClr val="DEE5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5720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Demostrar valor con el piloto antes de escalar a todos los productos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FASE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y Diagnóstico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4241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1–2  ·  Mapeo del panorama actual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" y="167335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  Inventario de sistemas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20116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Catalogar tecnologías por línea de producto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(Java, Python, Node.js, C#, AS400)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00600" y="150876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01768" y="167335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Criticidad y volumen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01768" y="20116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qué tiene mayor impacto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más pruebas manuales activas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20040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" y="33649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Madurez actual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" y="37033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¿Hay pruebas documentadas?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¿Existen casos de regresión definidos?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00600" y="320040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01768" y="33649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  Recursos disponibles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01768" y="370332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Herramientas, infraestructura,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y equipo disponible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FASE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Estándar de Proyectos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Convención uniforme sin importar el lenguaje de cada producto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3931920" cy="3520440"/>
          </a:xfrm>
          <a:prstGeom prst="roundRect">
            <a:avLst>
              <a:gd name="adj" fmla="val 2597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11880" y="142646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11880" y="142646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Estructura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5216" y="146304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146304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146304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664208"/>
            <a:ext cx="3675888" cy="3154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producto-automation/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tests/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unit/         # Pruebas unitarias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integration/  # APIs, bases de datos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e2e/          # Flujos completos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smoke/        # Críticas y rápidas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environments.yaml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test-data/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SETUP.md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STANDARDS.md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CI-CD/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.github/workflows/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0" y="1371600"/>
            <a:ext cx="4160520" cy="1600200"/>
          </a:xfrm>
          <a:prstGeom prst="roundRect">
            <a:avLst>
              <a:gd name="adj" fmla="val 5714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142646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42646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Naming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700016" y="146304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82896" y="146304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65776" y="146304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36592" y="1664208"/>
            <a:ext cx="390448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Patrón de nomenclatura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test_[feature]_[scenario]_[resultado]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Ejemplos: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test_login_valid_credentials_returns_token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test_payment_invalid_amount_shows_error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test_user_duplicate_email_returns_400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0" y="3090672"/>
            <a:ext cx="4160520" cy="1801368"/>
          </a:xfrm>
          <a:prstGeom prst="roundRect">
            <a:avLst>
              <a:gd name="adj" fmla="val 5076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55280" y="3145536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314553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Config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700016" y="3182112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82896" y="3182112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65776" y="3182112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36592" y="3383280"/>
            <a:ext cx="3904488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environments.yaml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base_url: http://localhost:8080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db: postgres://dev-host/testdb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qa: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base_url: https://qa.miapp.com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db: postgres://qa-host/testdb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staging: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base_url: https://staging.miapp.com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FASE 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 Herramientas por Capa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20240" cy="512064"/>
          </a:xfrm>
          <a:prstGeom prst="roundRect">
            <a:avLst>
              <a:gd name="adj" fmla="val 10714"/>
            </a:avLst>
          </a:prstGeom>
          <a:solidFill>
            <a:srgbClr val="4F8EF7">
              <a:alpha val="8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Pruebas Unitarias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560320" y="11887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5 / pytest / Jest / xUnit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0" y="144475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lógica de negocio por tecnología. Mocks con Mockito (Java) o equivalente.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01368"/>
            <a:ext cx="8229600" cy="0"/>
          </a:xfrm>
          <a:prstGeom prst="line">
            <a:avLst/>
          </a:prstGeom>
          <a:noFill/>
          <a:ln w="6350">
            <a:solidFill>
              <a:srgbClr val="DEE5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38528"/>
            <a:ext cx="1920240" cy="512064"/>
          </a:xfrm>
          <a:prstGeom prst="roundRect">
            <a:avLst>
              <a:gd name="adj" fmla="val 10714"/>
            </a:avLst>
          </a:prstGeom>
          <a:solidFill>
            <a:srgbClr val="2ECC9A">
              <a:alpha val="85000"/>
            </a:srgbClr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93852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Integración / APIs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60320" y="193852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Assured · Requests (Python) · RestSharp (C#)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560320" y="2194560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contratos entre servicios. JSON fixtures y faker libraries.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551176"/>
            <a:ext cx="8229600" cy="0"/>
          </a:xfrm>
          <a:prstGeom prst="line">
            <a:avLst/>
          </a:prstGeom>
          <a:noFill/>
          <a:ln w="6350">
            <a:solidFill>
              <a:srgbClr val="DEE5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688336"/>
            <a:ext cx="1920240" cy="512064"/>
          </a:xfrm>
          <a:prstGeom prst="roundRect">
            <a:avLst>
              <a:gd name="adj" fmla="val 10714"/>
            </a:avLst>
          </a:prstGeom>
          <a:solidFill>
            <a:srgbClr val="F5A623">
              <a:alpha val="85000"/>
            </a:srgbClr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68833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E2E / Web UI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60320" y="268833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(recomendado) · Cypress · Selenium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560320" y="2944368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completos multi-browser. Playwright: TypeScript/Python y mayor velocidad.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300984"/>
            <a:ext cx="8229600" cy="0"/>
          </a:xfrm>
          <a:prstGeom prst="line">
            <a:avLst/>
          </a:prstGeom>
          <a:noFill/>
          <a:ln w="6350">
            <a:solidFill>
              <a:srgbClr val="DEE5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438144"/>
            <a:ext cx="1920240" cy="512064"/>
          </a:xfrm>
          <a:prstGeom prst="roundRect">
            <a:avLst>
              <a:gd name="adj" fmla="val 10714"/>
            </a:avLst>
          </a:prstGeom>
          <a:solidFill>
            <a:srgbClr val="9B6DFF">
              <a:alpha val="85000"/>
            </a:srgbClr>
          </a:solidFill>
          <a:ln w="12700">
            <a:solidFill>
              <a:srgbClr val="9B6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43814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Mobile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60320" y="3438144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Appium (cross) · Espresso (Android) · XCUITest (iOS)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60320" y="3694176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nativas o multiplataforma según arquitectura del producto.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050792"/>
            <a:ext cx="8229600" cy="0"/>
          </a:xfrm>
          <a:prstGeom prst="line">
            <a:avLst/>
          </a:prstGeom>
          <a:noFill/>
          <a:ln w="6350">
            <a:solidFill>
              <a:srgbClr val="DEE5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4187952"/>
            <a:ext cx="1920240" cy="512064"/>
          </a:xfrm>
          <a:prstGeom prst="roundRect">
            <a:avLst>
              <a:gd name="adj" fmla="val 10714"/>
            </a:avLst>
          </a:prstGeom>
          <a:solidFill>
            <a:srgbClr val="F06292">
              <a:alpha val="85000"/>
            </a:srgbClr>
          </a:solidFill>
          <a:ln w="12700">
            <a:solidFill>
              <a:srgbClr val="F0629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418795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AS400 / Legado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560320" y="418795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+ JT400 wrapper · IBM RFT · AutoIT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560320" y="4443984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Envolver RPG/COBOL con Java wrapper que expone el legado como servicios testables.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88720" cy="256032"/>
          </a:xfrm>
          <a:prstGeom prst="roundRect">
            <a:avLst>
              <a:gd name="adj" fmla="val 17857"/>
            </a:avLst>
          </a:prstGeom>
          <a:solidFill>
            <a:srgbClr val="4F8EF7">
              <a:alpha val="20000"/>
            </a:srgbClr>
          </a:solidFill>
          <a:ln w="762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F8EF7"/>
                </a:solidFill>
              </a:rPr>
              <a:t>JAVA · JUnit 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828800" y="20116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— Spring Boot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AAA (Arrange · Act · Assert) con Mockito para dependencias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4160520" cy="3931920"/>
          </a:xfrm>
          <a:prstGeom prst="roundRect">
            <a:avLst>
              <a:gd name="adj" fmla="val 2326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Java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52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252728"/>
            <a:ext cx="390448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UserServiceTest.java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@ExtendWith(MockitoExtension.class)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UserServiceTest {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@Mock private UserRepository userRepository;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@Mock private EmailService emailService;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@InjectMocks private UserService userService;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testCreateUserSuccess()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Arrange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email = "juan@example.com";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when(userRepository.save(any()))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.thenReturn(new User(email, "Juan"));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Act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 result = userService.createUser(email, "Juan");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Assert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assertNotNull(result);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assertEquals(email, result.getEmail());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verify(userRepository, times(1)).save(any());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verify(emailService).sendWelcomeEmail(email);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00600" y="96012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Maven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9286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114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943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1252728"/>
            <a:ext cx="36758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Dependencias pom.xml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&lt;dependency&gt;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&lt;groupId&gt;org.springframework.boot&lt;/groupId&gt;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&lt;artifactId&gt;spring-boot-starter-test&lt;/artifactId&gt;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&lt;version&gt;3.0.0&lt;/version&gt;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&lt;scope&gt;test&lt;/scope&gt;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&lt;/dependency&gt;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&lt;dependency&gt;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&lt;groupId&gt;org.mockito&lt;/groupId&gt;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&lt;artifactId&gt;mockito-core&lt;/artifactId&gt;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&lt;version&gt;5.2.0&lt;/version&gt;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&lt;/dependency&gt;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00600" y="2907792"/>
            <a:ext cx="3931920" cy="1984248"/>
          </a:xfrm>
          <a:prstGeom prst="roundRect">
            <a:avLst>
              <a:gd name="adj" fmla="val 4608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55280" y="2962656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Edge case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928616" y="2999232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11496" y="2999232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94376" y="2999232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65192" y="3200400"/>
            <a:ext cx="3675888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testCreateUser_EmptyEmail_Throws()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Act &amp; Assert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assertThrows(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IllegalArgumentException.class,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() -&gt; userService.createUser("", "Juan")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Verificar que NO se guardó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verify(userRepository, never()).save(any());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verify(emailService, never())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.sendWelcomeEmail(anyString());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88720" cy="256032"/>
          </a:xfrm>
          <a:prstGeom prst="roundRect">
            <a:avLst>
              <a:gd name="adj" fmla="val 17857"/>
            </a:avLst>
          </a:prstGeom>
          <a:solidFill>
            <a:srgbClr val="F5A623">
              <a:alpha val="20000"/>
            </a:srgbClr>
          </a:solidFill>
          <a:ln w="762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A623"/>
                </a:solidFill>
              </a:rPr>
              <a:t>NODE.JS · Jest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828800" y="20116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— Node.js / Express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mocks para aislar dependencias · async/await nativo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4160520" cy="3931920"/>
          </a:xfrm>
          <a:prstGeom prst="roundRect">
            <a:avLst>
              <a:gd name="adj" fmla="val 2326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JavaScript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52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252728"/>
            <a:ext cx="390448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userService.test.js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UserService = require('./userService');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describe('UserService', () =&gt;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let userService, userRepository, emailService;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beforeEach(() =&gt;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userRepository 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save: jest.fn(),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findById: jest.fn(),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emailService = { sendWelcomeEmail: jest.fn() };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userService = new UserService(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userRepository, emailService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test('should create user successfully', async () =&gt;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email = 'juan@example.com';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userRepository.save.mockResolvedValue({ email });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result = await userService.createUser(email, 'Juan');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expect(result.email).toBe(email);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expect(userRepository.save).toHaveBeenCalledWith({ email, name: 'Juan' });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expect(emailService.sendWelcomeEmail).toHaveBeenCalledWith(email);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00600" y="96012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Config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9286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114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943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1252728"/>
            <a:ext cx="36758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package.json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"scripts":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"test": "jest",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"test:watch": "jest --watch",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"test:coverage": "jest --coverage"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"devDependencies":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"jest": "^29.5.0",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"supertest": "^6.3.3"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00600" y="2907792"/>
            <a:ext cx="3931920" cy="1984248"/>
          </a:xfrm>
          <a:prstGeom prst="roundRect">
            <a:avLst>
              <a:gd name="adj" fmla="val 4608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55280" y="2962656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Edge case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928616" y="2999232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11496" y="2999232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94376" y="2999232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65192" y="3200400"/>
            <a:ext cx="3675888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test('empty email throws error', async () =&gt;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expect(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userService.createUser('', 'Juan')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).rejects.toThrow('Email cannot be empty');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expect(userRepository.save)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.not.toHaveBeenCalled();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expect(emailService.sendWelcomeEmail)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.not.toHaveBeenCalled();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Ejecutar: npm test -- --watch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88720" cy="256032"/>
          </a:xfrm>
          <a:prstGeom prst="roundRect">
            <a:avLst>
              <a:gd name="adj" fmla="val 17857"/>
            </a:avLst>
          </a:prstGeom>
          <a:solidFill>
            <a:srgbClr val="2ECC9A">
              <a:alpha val="20000"/>
            </a:srgbClr>
          </a:solidFill>
          <a:ln w="7620">
            <a:solidFill>
              <a:srgbClr val="2EC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CC9A"/>
                </a:solidFill>
              </a:rPr>
              <a:t>PYTHON · pytest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828800" y="20116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 — Python / FastAPI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fixtures · unittest.mock para dependencias · sintaxis limpia y expresiva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4160520" cy="3931920"/>
          </a:xfrm>
          <a:prstGeom prst="roundRect">
            <a:avLst>
              <a:gd name="adj" fmla="val 2326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Python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52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252728"/>
            <a:ext cx="390448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test_user_service.py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pytest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unittest.mock import Mock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user_service import UserService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TestUserService: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@pytest.fixture(autouse=True)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setup(self):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self.user_repository = Mock()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self.email_service = Mock()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self.user_service = UserService(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self.user_repository,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self.email_service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test_create_user_success(self):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email = 'juan@example.com'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self.user_service.create_user(email, 'Juan')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assert result['email'] == email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self.user_repository.save.assert_called_once()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self.email_service.send_welcome_email\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.assert_called_once_with(email)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test_empty_email_raises(self):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with pytest.raises(ValueError, match='Email cannot be empty'):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self.user_service.create_user('', 'Juan')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self.user_repository.save.assert_not_called()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00600" y="960120"/>
            <a:ext cx="3931920" cy="1691640"/>
          </a:xfrm>
          <a:prstGeom prst="roundRect">
            <a:avLst>
              <a:gd name="adj" fmla="val 5405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Setup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9286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114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943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1252728"/>
            <a:ext cx="367588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requirements-dev.txt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pytest==7.3.1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pytest-asyncio==0.21.0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pytest-mock==3.10.0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httpx==0.24.0   # async test client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Ejecutar: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                   # todos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-v                 # verbose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--cov=app          # coverage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-k 'test_create'   # filtrar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00600" y="2770632"/>
            <a:ext cx="3931920" cy="2121408"/>
          </a:xfrm>
          <a:prstGeom prst="roundRect">
            <a:avLst>
              <a:gd name="adj" fmla="val 4310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55280" y="2825496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282549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Avanzado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928616" y="2862072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11496" y="2862072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94376" y="2862072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65192" y="3063240"/>
            <a:ext cx="3675888" cy="1755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test_get_user_not_found(self):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Arrange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self.user_repository.find_by_id\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.return_value = None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Act &amp; Assert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with pytest.raises(Exception,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match='User not found'):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self.user_service.get_user_by_id(999)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conftest.py (fixtures globales)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@pytest.fixture(scope='session')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db_connection():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create_test_db()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88720" cy="256032"/>
          </a:xfrm>
          <a:prstGeom prst="roundRect">
            <a:avLst>
              <a:gd name="adj" fmla="val 17857"/>
            </a:avLst>
          </a:prstGeom>
          <a:solidFill>
            <a:srgbClr val="F06292">
              <a:alpha val="20000"/>
            </a:srgbClr>
          </a:solidFill>
          <a:ln w="7620">
            <a:solidFill>
              <a:srgbClr val="F0629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06292"/>
                </a:solidFill>
              </a:rPr>
              <a:t>API · Karate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828800" y="20116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Integración — Karate DSL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Sintaxis BDD Gherkin · Validación de respuestas JSON · Sin código Java adicional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4846320" cy="3931920"/>
          </a:xfrm>
          <a:prstGeom prst="roundRect">
            <a:avLst>
              <a:gd name="adj" fmla="val 2326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262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Karate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52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252728"/>
            <a:ext cx="459028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user_api.feature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Feature: User API Tests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 url 'http://localhost:8080/api'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 header Content-Type = 'application/json'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Scenario: Create user successfully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Given path '/users'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request { email: 'juan@example.com',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name: 'Juan Pérez'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method post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 status 201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match response ==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id: '#number',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email: 'juan@example.com',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name: 'Juan Pérez'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Scenario: User not found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Given path '/users/999'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method get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 status 404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Scenario: Invalid email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Given path '/users'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request { email: '', name: 'Juan'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method post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 status 400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match response.error == 'Email is required'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0" y="960120"/>
            <a:ext cx="3246120" cy="1828800"/>
          </a:xfrm>
          <a:prstGeom prst="roundRect">
            <a:avLst>
              <a:gd name="adj" fmla="val 5000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Runner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6144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972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801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50992" y="1252728"/>
            <a:ext cx="29900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UserApiTest.java (runner)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com.intuit.karate.junit5.Karate;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UserApiTest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@Karate.Test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Karate testAll()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Karate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.run("classpath:features")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.relativeTo(getClass());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Ejecutar: mvn test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0" y="2907792"/>
            <a:ext cx="3246120" cy="1984248"/>
          </a:xfrm>
          <a:prstGeom prst="roundRect">
            <a:avLst>
              <a:gd name="adj" fmla="val 4608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55280" y="2962656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Maven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614416" y="2999232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97296" y="2999232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80176" y="2999232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50992" y="3200400"/>
            <a:ext cx="2990088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pom.xml --&gt;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&lt;dependency&gt;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&lt;groupId&gt;com.intuit.karate&lt;/groupId&gt;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&lt;artifactId&gt;karate-junit5&lt;/artifactId&gt;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&lt;version&gt;1.3.1&lt;/version&gt;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&lt;scope&gt;test&lt;/scope&gt;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&lt;/dependency&gt;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Filtrar por tag: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mvn test -Dkarate.options=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"--tags @smoke"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88720" cy="256032"/>
          </a:xfrm>
          <a:prstGeom prst="roundRect">
            <a:avLst>
              <a:gd name="adj" fmla="val 17857"/>
            </a:avLst>
          </a:prstGeom>
          <a:solidFill>
            <a:srgbClr val="9B6DFF">
              <a:alpha val="20000"/>
            </a:srgbClr>
          </a:solidFill>
          <a:ln w="7620">
            <a:solidFill>
              <a:srgbClr val="9B6D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B6DFF"/>
                </a:solidFill>
              </a:rPr>
              <a:t>E2E · Serenity BDD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828800" y="20116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Backend — Serenity + Cucumber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Flujos completos de negocio · Reportes HTML detallados · Integración REST Assured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4160520" cy="3931920"/>
          </a:xfrm>
          <a:prstGeom prst="roundRect">
            <a:avLst>
              <a:gd name="adj" fmla="val 2326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Feature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52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252728"/>
            <a:ext cx="390448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user_registration.feature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Feature: User Registration E2E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 the user is on the system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 the database is clean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@smoke @e2e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Scenario: User registers successfully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Given the user wants to register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the user provides valid details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email    | juan@example.com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password | SecurePass123!  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| name     | Juan Pérez      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the user confirms the registration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 the system should create the user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a confirmation email should be sent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the user can login with new credentials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@regression @e2e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Scenario: Duplicate email is rejected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Given a user already exists with email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"existing@example.com"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a new user tries with the same email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Then the system shows 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"Email already registered"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only one user exists with that email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00600" y="960120"/>
            <a:ext cx="3931920" cy="3931920"/>
          </a:xfrm>
          <a:prstGeom prst="roundRect">
            <a:avLst>
              <a:gd name="adj" fmla="val 2326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Steps Java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9286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114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943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1252728"/>
            <a:ext cx="367588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UserRegistrationSteps.java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UserRegistrationSteps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String baseUrl =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"http://localhost:8080/api";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Response lastResponse;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Map&lt;String,String&gt; data;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@Given("the database is clean")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databaseIsClean()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given().when()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.delete(baseUrl + "/test/cleanup")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.then().statusCode(204);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@When("the user confirms the registration")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userConfirmsRegistration()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lastResponse = given()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.contentType("application/json")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.body(data)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.when().post(baseUrl + "/auth/register")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.then().extract().response();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@Then("the system should create the user")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systemCreatesUser()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assertThat(lastResponse.statusCode())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.isEqualTo(201);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assertThat(lastResponse.jsonPath()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.getString("id")).isNotNull();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88720" cy="256032"/>
          </a:xfrm>
          <a:prstGeom prst="roundRect">
            <a:avLst>
              <a:gd name="adj" fmla="val 17857"/>
            </a:avLst>
          </a:prstGeom>
          <a:solidFill>
            <a:srgbClr val="F5A623">
              <a:alpha val="20000"/>
            </a:srgbClr>
          </a:solidFill>
          <a:ln w="762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A623"/>
                </a:solidFill>
              </a:rPr>
              <a:t>E2E · Playwright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828800" y="20116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Frontend Web — Playwright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Multi-browser (Chrome / Firefox / Safari) · TypeScript nativo · Modo UI y trazas de debug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4160520" cy="3931920"/>
          </a:xfrm>
          <a:prstGeom prst="roundRect">
            <a:avLst>
              <a:gd name="adj" fmla="val 2326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TypeScript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52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252728"/>
            <a:ext cx="390448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e2e/user-registration.spec.ts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test, expect } from '@playwright/test';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test.describe('User Registration E2E', () =&gt; {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test.beforeEach(async ({ page }) =&gt;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page.goto('/register');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test('register successfully', async ({ page }) =&gt;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email = `user-${Date.now()}@test.com`;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page.fill('[data-testid=email-input]', email);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page.fill('[data-testid=password-input]',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'SecurePassword123');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page.fill('[data-testid=name-input]',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'Juan Test');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page.click('[data-testid=submit-button]');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expect(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page.locator('[data-testid=success-message]')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).toBeVisible();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expect(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page.locator('[data-testid=success-message]')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).toContainText('Registration successful');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test('show error for invalid email', async ({ page }) =&gt;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page.fill('[data-testid=email-input]', 'bad');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page.click('[data-testid=submit-button]');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expect(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page.locator('[data-testid=email-error]')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).toBeVisible();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00600" y="960120"/>
            <a:ext cx="3931920" cy="1828800"/>
          </a:xfrm>
          <a:prstGeom prst="roundRect">
            <a:avLst>
              <a:gd name="adj" fmla="val 5000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Config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9286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114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943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65192" y="1252728"/>
            <a:ext cx="36758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playwright.config.ts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defineConfig({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testDir: './e2e',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fullyParallel: true,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retries: process.env.CI ? 2 : 0,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reporter: [['html'], ['junit',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outputFile: 'results.xml' }]],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use: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baseURL: 'http://localhost:3000',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trace: 'on-first-retry',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screenshot: 'only-on-failure',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projects: [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name: 'chromium'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name: 'firefox'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name: 'webkit'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00600" y="2907792"/>
            <a:ext cx="3931920" cy="1984248"/>
          </a:xfrm>
          <a:prstGeom prst="roundRect">
            <a:avLst>
              <a:gd name="adj" fmla="val 4608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55280" y="2962656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296265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CLI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928616" y="2999232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11496" y="2999232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94376" y="2999232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65192" y="3200400"/>
            <a:ext cx="3675888" cy="1618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Comandos clave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playwright install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Ejecutar todos los tests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playwright test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Modo UI (recomendado para debug)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playwright test --ui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Navegador específico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playwright test --project=chromium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Generar tests automáticamente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playwright codegen http://localhost:3000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88720" cy="256032"/>
          </a:xfrm>
          <a:prstGeom prst="roundRect">
            <a:avLst>
              <a:gd name="adj" fmla="val 17857"/>
            </a:avLst>
          </a:prstGeom>
          <a:solidFill>
            <a:srgbClr val="F06292">
              <a:alpha val="20000"/>
            </a:srgbClr>
          </a:solidFill>
          <a:ln w="7620">
            <a:solidFill>
              <a:srgbClr val="F0629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06292"/>
                </a:solidFill>
              </a:rPr>
              <a:t>AS400 · JT400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828800" y="20116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en Sistemas Legados — AS400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wrapper sobre RPG/COBOL · JUnit 5 · Biblioteca IBM JT400 (Toolbox for Java)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4160520" cy="2212848"/>
          </a:xfrm>
          <a:prstGeom prst="roundRect">
            <a:avLst>
              <a:gd name="adj" fmla="val 4132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Maven + Pool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52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252728"/>
            <a:ext cx="3904488" cy="1847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pom.xml — Dependencia JT400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&lt;dependency&gt;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&lt;groupId&gt;com.ibm.as400&lt;/groupId&gt;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&lt;artifactId&gt;jt400&lt;/artifactId&gt;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&lt;version&gt;11.0&lt;/version&gt;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&lt;/dependency&gt;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AS400ConnectionPool.java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AS400ConnectionPool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AS400 getConnection()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new AS400(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"hostname", "user", "password"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4160520" cy="1600200"/>
          </a:xfrm>
          <a:prstGeom prst="roundRect">
            <a:avLst>
              <a:gd name="adj" fmla="val 5714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334670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33467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Base Class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85216" y="338328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338328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0976" y="338328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" y="3584448"/>
            <a:ext cx="3904488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AS400TestBase.java — Clase 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abstract class AS400TestBase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protected AS400 as400;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@Before public void setup()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as400 = AS400ConnectionPool.getConnection();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@After public void teardown()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as400.disconnectAllServices();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800600" y="960120"/>
            <a:ext cx="3931920" cy="3931920"/>
          </a:xfrm>
          <a:prstGeom prst="roundRect">
            <a:avLst>
              <a:gd name="adj" fmla="val 2326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552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Test RPG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9286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114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943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65192" y="1252728"/>
            <a:ext cx="367588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RPGWrapper.java — Test del programa RPG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RPGWrapperTest extends AS400TestBase {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testRPGFunction()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Llamar programa RPG desde Java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ProgramCall pc = new ProgramCall(as400);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pc.setProgram(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"/QSYS.LIB/TULIB.LIB/MYPROG.PGM"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ProgramParameter[] params =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new ProgramParameter[2];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Input: valor 100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params[0] = new ProgramParameter(100);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Output: buffer de salida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params[1] = new ProgramParameter(10);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pc.run(params);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byte[] output = params[1].getOutputData();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resultado = BinaryConverter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.byteArrayToInt(output, 0);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Verificar resultado esperado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assertEquals(110, resultado);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Ejecutar: mvn test -Dtest=RPGWrapperTest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188720" cy="256032"/>
          </a:xfrm>
          <a:prstGeom prst="roundRect">
            <a:avLst>
              <a:gd name="adj" fmla="val 17857"/>
            </a:avLst>
          </a:prstGeom>
          <a:solidFill>
            <a:srgbClr val="2ECC9A">
              <a:alpha val="20000"/>
            </a:srgbClr>
          </a:solidFill>
          <a:ln w="7620">
            <a:solidFill>
              <a:srgbClr val="2EC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CC9A"/>
                </a:solidFill>
              </a:rPr>
              <a:t>CI/CD · GitHub Actions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828800" y="20116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Automatización CI/CD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automática en cada PR · Reporte Allure · Notificación Slack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074920" cy="3931920"/>
          </a:xfrm>
          <a:prstGeom prst="roundRect">
            <a:avLst>
              <a:gd name="adj" fmla="val 2326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YAML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852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80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252728"/>
            <a:ext cx="481888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.github/workflows/test.yml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Test Suite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push: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branches: [main, develop]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pull_request: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branches: [main]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unit-tests: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actions/checkout@v3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name: Set up JDK 17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uses: actions/setup-java@v3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with: { java-version: '17' }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name: Run unit tests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run: mvn test -Dtest='*UnitTest'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name: Run API tests (Karate)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run: mvn test -Dtest='*ApiTest'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name: Run E2E Playwright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run: |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npm ci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npx playwright install --with-deps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npx playwright test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name: Upload Allure results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uses: actions/upload-artifact@v3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name: allure-results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path: target/allure-results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715000" y="960120"/>
            <a:ext cx="3017520" cy="1920240"/>
          </a:xfrm>
          <a:prstGeom prst="roundRect">
            <a:avLst>
              <a:gd name="adj" fmla="val 4762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1014984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0" y="1014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Job Integración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843016" y="1051560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25896" y="1051560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8776" y="1051560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79592" y="1252728"/>
            <a:ext cx="276148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integration-tests: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needs: unit-tests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services: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postgres: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image: postgres:14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env: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POSTGRES_PASSWORD: test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options: --health-cmd pg_isready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name: Run integration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run: mvn test -Dtest='*IntTest'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env: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DB_URL: postgres://localhost/test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715000" y="2999232"/>
            <a:ext cx="3017520" cy="1892808"/>
          </a:xfrm>
          <a:prstGeom prst="roundRect">
            <a:avLst>
              <a:gd name="adj" fmla="val 4831"/>
            </a:avLst>
          </a:prstGeom>
          <a:solidFill>
            <a:srgbClr val="1E2435"/>
          </a:solidFill>
          <a:ln w="10160">
            <a:solidFill>
              <a:srgbClr val="2E3A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55280" y="3054096"/>
            <a:ext cx="731520" cy="201168"/>
          </a:xfrm>
          <a:prstGeom prst="roundRect">
            <a:avLst>
              <a:gd name="adj" fmla="val 18182"/>
            </a:avLst>
          </a:prstGeom>
          <a:solidFill>
            <a:srgbClr val="4F8EF7">
              <a:alpha val="7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305409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Notificación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5843016" y="3090672"/>
            <a:ext cx="109728" cy="109728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25896" y="3090672"/>
            <a:ext cx="109728" cy="109728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08776" y="3090672"/>
            <a:ext cx="109728" cy="109728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79592" y="3291840"/>
            <a:ext cx="2761488" cy="1527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notify: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needs: [unit-tests, integration-tests]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if: always()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name: Slack notification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uses: 8398a7/action-slack@v3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with: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status: ${{ job.status }}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text: 'Test Suite: ${{ job.status }}'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env: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SLACK_WEBHOOK_URL: ${{ secrets.SLACK_WEBHOOK }}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FASE 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del Piloto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automatices todo — elige el producto correcto para comenzar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1E2435"/>
          </a:solidFill>
          <a:ln w="6350">
            <a:solidFill>
              <a:srgbClr val="3A40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72768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Crítico para el negocio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09160" y="1572768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1E2435"/>
          </a:solidFill>
          <a:ln w="6350">
            <a:solidFill>
              <a:srgbClr val="3A40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572768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Flujos claros y documentados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1E2435"/>
          </a:solidFill>
          <a:ln w="6350">
            <a:solidFill>
              <a:srgbClr val="3A4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395728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Complejidad manejable (sin AS400 aún)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09160" y="2395728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1E2435"/>
          </a:solidFill>
          <a:ln w="6350">
            <a:solidFill>
              <a:srgbClr val="3A40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2395728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Soporte activo del equipo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8229600" cy="1536192"/>
          </a:xfrm>
          <a:prstGeom prst="roundRect">
            <a:avLst>
              <a:gd name="adj" fmla="val 5952"/>
            </a:avLst>
          </a:prstGeom>
          <a:solidFill>
            <a:srgbClr val="4F8EF7">
              <a:alpha val="1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429000"/>
            <a:ext cx="7772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Piloto recomendado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74904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 + Frontend Web  ·  Sin AS400 en la primera iteración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Demuestra valor rápidamente y genera confianza del equipo antes de escalar al legado.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371600" cy="274320"/>
          </a:xfrm>
          <a:prstGeom prst="roundRect">
            <a:avLst>
              <a:gd name="adj" fmla="val 16667"/>
            </a:avLst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FASE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del Piloto — Suite Base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371600"/>
            <a:ext cx="457200" cy="45720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1417320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de Infraestructura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1874520"/>
            <a:ext cx="3566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Repositorio centralizado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(GitHub / GitLab / Bitbucket)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" y="2542032"/>
            <a:ext cx="3566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Pipeline CI/CD base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(GitHub Actions / Jenkins)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3209544"/>
            <a:ext cx="3566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Test environment estable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datos controlados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3877056"/>
            <a:ext cx="3566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Reporting centralizado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(Allure Report / TestRail)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02336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64608" y="1371600"/>
            <a:ext cx="457200" cy="457200"/>
          </a:xfrm>
          <a:prstGeom prst="ellipse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40680" y="1417320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Suite Base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64608" y="1901952"/>
            <a:ext cx="3566160" cy="749808"/>
          </a:xfrm>
          <a:prstGeom prst="roundRect">
            <a:avLst>
              <a:gd name="adj" fmla="val 8537"/>
            </a:avLst>
          </a:prstGeom>
          <a:solidFill>
            <a:srgbClr val="4F8EF7">
              <a:alpha val="12000"/>
            </a:srgbClr>
          </a:solidFill>
          <a:ln w="10160">
            <a:solidFill>
              <a:srgbClr val="4F8E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47488" y="195681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Pruebas unitarias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047488" y="228600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core · JUnit / pytest / Jest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64608" y="2798064"/>
            <a:ext cx="3566160" cy="749808"/>
          </a:xfrm>
          <a:prstGeom prst="roundRect">
            <a:avLst>
              <a:gd name="adj" fmla="val 8537"/>
            </a:avLst>
          </a:prstGeom>
          <a:solidFill>
            <a:srgbClr val="2ECC9A">
              <a:alpha val="12000"/>
            </a:srgbClr>
          </a:solidFill>
          <a:ln w="10160">
            <a:solidFill>
              <a:srgbClr val="2ECC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47488" y="285292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Pruebas de API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47488" y="318211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e integración · Karate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64608" y="3694176"/>
            <a:ext cx="3566160" cy="749808"/>
          </a:xfrm>
          <a:prstGeom prst="roundRect">
            <a:avLst>
              <a:gd name="adj" fmla="val 8537"/>
            </a:avLst>
          </a:prstGeom>
          <a:solidFill>
            <a:srgbClr val="F5A623">
              <a:alpha val="12000"/>
            </a:srgbClr>
          </a:solidFill>
          <a:ln w="1016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47488" y="3749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Pruebas E2E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047488" y="407822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crítico · Playwright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64608" y="4636008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Objetivo: demostrar valor rápido y ganar confianza del equipo.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de Herramientas Centralizadas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compartido por todos los equipos y líneas de producto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38912" y="11430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3504" y="1307592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4F8EF7">
              <a:alpha val="85000"/>
            </a:srgbClr>
          </a:solidFill>
          <a:ln w="12700">
            <a:solidFill>
              <a:srgbClr val="4F8E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307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76072" y="1892808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" y="21488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/ GitLab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1430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10712" y="1307592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2ECC9A">
              <a:alpha val="85000"/>
            </a:srgbClr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1307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383280" y="1892808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CD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0" y="21488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Jenkins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53328" y="11430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307592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F5A623">
              <a:alpha val="85000"/>
            </a:srgbClr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1307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90488" y="1892808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90488" y="21488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 Report · TestRail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8912" y="29718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" y="3136392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9B6DFF">
              <a:alpha val="85000"/>
            </a:srgbClr>
          </a:solidFill>
          <a:ln w="12700">
            <a:solidFill>
              <a:srgbClr val="9B6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76072" y="3721608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76072" y="3977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· Dashboard custom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29718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10712" y="3136392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F06292">
              <a:alpha val="85000"/>
            </a:srgbClr>
          </a:solidFill>
          <a:ln w="12700">
            <a:solidFill>
              <a:srgbClr val="F0629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10712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📝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383280" y="3721608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383280" y="3977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Confluence · Wiki en repo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53328" y="2971800"/>
            <a:ext cx="260604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DEE5F2"/>
            </a:solidFill>
            <a:prstDash val="solid"/>
          </a:ln>
          <a:effectLst>
            <a:outerShdw sx="100000" sy="100000" kx="0" ky="0" algn="bl" rotWithShape="0" blurRad="127000" dist="254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217920" y="3136392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FB923C">
              <a:alpha val="85000"/>
            </a:srgbClr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1792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190488" y="3721608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190488" y="3977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+ ceremonias semanales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5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ECC9A"/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concretas para arrancar esta semana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4416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2ECC9A">
              <a:alpha val="80000"/>
            </a:srgbClr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4416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Semana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011680" y="1371600"/>
            <a:ext cx="6675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de sistemas y tecnologías por línea de producto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8229600" cy="0"/>
          </a:xfrm>
          <a:prstGeom prst="line">
            <a:avLst/>
          </a:prstGeom>
          <a:noFill/>
          <a:ln w="6350">
            <a:solidFill>
              <a:srgbClr val="2E344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57400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2ECC9A">
              <a:alpha val="80000"/>
            </a:srgbClr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05740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Semana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11680" y="2084832"/>
            <a:ext cx="6675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estructura de repositorio y convenciones de nomenclatura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633472"/>
            <a:ext cx="8229600" cy="0"/>
          </a:xfrm>
          <a:prstGeom prst="line">
            <a:avLst/>
          </a:prstGeom>
          <a:noFill/>
          <a:ln w="6350">
            <a:solidFill>
              <a:srgbClr val="2E344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77063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2ECC9A">
              <a:alpha val="80000"/>
            </a:srgbClr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7063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Semana 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798064"/>
            <a:ext cx="6675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Seleccionar producto piloto con el equipo y formalizar criterios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346704"/>
            <a:ext cx="8229600" cy="0"/>
          </a:xfrm>
          <a:prstGeom prst="line">
            <a:avLst/>
          </a:prstGeom>
          <a:noFill/>
          <a:ln w="6350">
            <a:solidFill>
              <a:srgbClr val="2E34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483864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2ECC9A">
              <a:alpha val="80000"/>
            </a:srgbClr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48386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Semana 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011680" y="3511296"/>
            <a:ext cx="6675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Configurar repo, CI/CD, Allure Report y ambiente de pruebas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059936"/>
            <a:ext cx="8229600" cy="0"/>
          </a:xfrm>
          <a:prstGeom prst="line">
            <a:avLst/>
          </a:prstGeom>
          <a:noFill/>
          <a:ln w="6350">
            <a:solidFill>
              <a:srgbClr val="2E34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19709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2ECC9A">
              <a:alpha val="80000"/>
            </a:srgbClr>
          </a:solidFill>
          <a:ln w="12700">
            <a:solidFill>
              <a:srgbClr val="2ECC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19709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Semana 5+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4224528"/>
            <a:ext cx="6675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Escribir suite base (5-10 tests por capa) y demostrar valor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8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automatización de pruebas es una inversión estratégica — el retorno crece con cada ciclo.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Estrategia de Automatización de Pruebas</dc:title>
  <dc:subject>PptxGenJS Presentation</dc:subject>
  <dc:creator>PptxGenJS</dc:creator>
  <cp:lastModifiedBy>PptxGenJS</cp:lastModifiedBy>
  <cp:revision>1</cp:revision>
  <dcterms:created xsi:type="dcterms:W3CDTF">2026-06-24T18:45:33Z</dcterms:created>
  <dcterms:modified xsi:type="dcterms:W3CDTF">2026-06-24T18:45:33Z</dcterms:modified>
</cp:coreProperties>
</file>