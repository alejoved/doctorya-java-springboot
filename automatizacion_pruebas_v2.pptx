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72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6"/>
    <p:restoredTop sz="94610"/>
  </p:normalViewPr>
  <p:slideViewPr>
    <p:cSldViewPr snapToGrid="0" snapToObjects="1">
      <p:cViewPr varScale="1">
        <p:scale>
          <a:sx n="179" d="100"/>
          <a:sy n="179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398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4626-0602-DD45-FFF8-21E8316A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0666A-DAD8-04BA-0C7B-DC184A38D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6C6D7-C2A9-19F0-D118-E4FF6DA54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6B776-C21C-EA01-A16C-67E6E434C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87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1E2435"/>
          </a:solidFill>
          <a:ln w="12700">
            <a:solidFill>
              <a:srgbClr val="1E24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Automatización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Pruebas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en 5 fases · Con ejemplos de código reales por tecnología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749040"/>
            <a:ext cx="150876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Diagnóstico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3749040"/>
            <a:ext cx="1508760" cy="36576"/>
          </a:xfrm>
          <a:prstGeom prst="rect">
            <a:avLst/>
          </a:prstGeom>
          <a:solidFill>
            <a:srgbClr val="4F8EF7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103120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Estándares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3749040"/>
            <a:ext cx="1508760" cy="36576"/>
          </a:xfrm>
          <a:prstGeom prst="rect">
            <a:avLst/>
          </a:prstGeom>
          <a:solidFill>
            <a:srgbClr val="4F8EF7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794760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Herramientas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3749040"/>
            <a:ext cx="1508760" cy="36576"/>
          </a:xfrm>
          <a:prstGeom prst="rect">
            <a:avLst/>
          </a:prstGeom>
          <a:solidFill>
            <a:srgbClr val="4F8EF7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86400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Piloto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78040" y="3749040"/>
            <a:ext cx="1508760" cy="36576"/>
          </a:xfrm>
          <a:prstGeom prst="rect">
            <a:avLst/>
          </a:prstGeom>
          <a:solidFill>
            <a:srgbClr val="4F8EF7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178040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 secuenciales · Cada fase tiene estándares, herramientas y código de referencia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45920" y="1828800"/>
            <a:ext cx="438912" cy="0"/>
          </a:xfrm>
          <a:prstGeom prst="line">
            <a:avLst/>
          </a:prstGeom>
          <a:noFill/>
          <a:ln w="19050">
            <a:solidFill>
              <a:srgbClr val="DEE5F2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502920" cy="5029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7A8499"/>
                </a:solidFill>
                <a:latin typeface="Calibri" pitchFamily="34" charset="0"/>
                <a:cs typeface="Calibri" pitchFamily="34" charset="-120"/>
              </a:rPr>
              <a:t>Lineas</a:t>
            </a:r>
            <a:r>
              <a:rPr lang="en-US" sz="1000" dirty="0">
                <a:solidFill>
                  <a:srgbClr val="7A8499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7A8499"/>
                </a:solidFill>
                <a:latin typeface="Calibri" pitchFamily="34" charset="0"/>
                <a:cs typeface="Calibri" pitchFamily="34" charset="-120"/>
              </a:rPr>
              <a:t>productos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64992" y="1828800"/>
            <a:ext cx="438912" cy="0"/>
          </a:xfrm>
          <a:prstGeom prst="line">
            <a:avLst/>
          </a:prstGeom>
          <a:noFill/>
          <a:ln w="19050">
            <a:solidFill>
              <a:srgbClr val="DEE5F2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084832" y="114300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587752" y="1325880"/>
            <a:ext cx="502920" cy="502920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587752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57984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57984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7A8499"/>
                </a:solidFill>
                <a:latin typeface="Calibri" pitchFamily="34" charset="0"/>
                <a:cs typeface="Calibri" pitchFamily="34" charset="-120"/>
              </a:rPr>
              <a:t>Tecnologias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84064" y="1828800"/>
            <a:ext cx="438912" cy="0"/>
          </a:xfrm>
          <a:prstGeom prst="line">
            <a:avLst/>
          </a:prstGeom>
          <a:noFill/>
          <a:ln w="19050">
            <a:solidFill>
              <a:srgbClr val="DEE5F2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803904" y="114300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306824" y="132588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306824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7056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77056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capa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1828800"/>
            <a:ext cx="438912" cy="0"/>
          </a:xfrm>
          <a:prstGeom prst="line">
            <a:avLst/>
          </a:prstGeom>
          <a:noFill/>
          <a:ln w="19050">
            <a:solidFill>
              <a:srgbClr val="DEE5F2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5522976" y="114300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025896" y="1325880"/>
            <a:ext cx="502920" cy="502920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025896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96128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114300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7744968" y="1325880"/>
            <a:ext cx="502920" cy="50292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744968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1E2435"/>
          </a:solidFill>
          <a:ln w="6350">
            <a:solidFill>
              <a:srgbClr val="DEE5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Demostrar valor con el piloto antes de escalar a todos los productos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 Diagnóstico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Mapeo del panorama actual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58368" y="16733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Inventario de sistemas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Catalogar tecnologías por línea de producto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(Java, Python, Node.js, C#, AS400)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001768" y="16733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Criticidad y volumen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01768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tiene mayor impacto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más pruebas manuales activas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58368" y="3364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Madurez actual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pruebas documentadas?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¿Existen casos de regresión definidos?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32004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001768" y="3364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Recursos disponibles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01768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Herramientas, infraestructura,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equipo disponible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Estándar de Proyectos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uniforme sin importar el lenguaje de cada producto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11880" y="142646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11880" y="14264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Estructura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46304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46304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46304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664208"/>
            <a:ext cx="367588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producto-automation/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unit/         # Pruebas unitarias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integration/  # APIs, bases de datos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e2e/          # Flujos completos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smoke/        # Críticas y rápidas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environments.yaml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test-data/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SETUP.md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STANDARDS.md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CI-CD/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.github/workflows/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55280" y="142646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4264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Naming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700016" y="146304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882896" y="146304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065776" y="146304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736592" y="1664208"/>
            <a:ext cx="39044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Patrón de nomenclatura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test_[feature]_[scenario]_[resultado]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Ejemplos: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test_login_valid_credentials_returns_token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test_payment_invalid_amount_shows_error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test_user_duplicate_email_returns_400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3090672"/>
            <a:ext cx="4160520" cy="1801368"/>
          </a:xfrm>
          <a:prstGeom prst="roundRect">
            <a:avLst>
              <a:gd name="adj" fmla="val 507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55280" y="314553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31455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Config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00016" y="318211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882896" y="318211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065776" y="318211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736592" y="3383280"/>
            <a:ext cx="3904488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environments.yaml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base_url: http://localhost:8080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 postgres://dev-host/testdb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base_url: https://qa.miapp.com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 postgres://qa-host/testdb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base_url: https://staging.miapp.com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Herramientas por Capa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4F8EF7">
              <a:alpha val="8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Pruebas Unitarias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/ pytest / Jest / xUnit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44475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lógica de negocio por tecnología. Mocks con Mockito (Java) o equivalente.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0"/>
          </a:xfrm>
          <a:prstGeom prst="line">
            <a:avLst/>
          </a:prstGeom>
          <a:noFill/>
          <a:ln w="6350">
            <a:solidFill>
              <a:srgbClr val="DEE5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2ECC9A">
              <a:alpha val="85000"/>
            </a:srgbClr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</a:rPr>
              <a:t>Pruebas</a:t>
            </a:r>
            <a:r>
              <a:rPr lang="en-US" sz="1000" b="1" dirty="0">
                <a:solidFill>
                  <a:srgbClr val="FFFFFF"/>
                </a:solidFill>
              </a:rPr>
              <a:t> de </a:t>
            </a:r>
            <a:r>
              <a:rPr lang="en-US" sz="1000" b="1" dirty="0" err="1">
                <a:solidFill>
                  <a:srgbClr val="FFFFFF"/>
                </a:solidFill>
              </a:rPr>
              <a:t>Integración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938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 · SOAPUI ·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contratos entre servicios. JSON fixtures y faker libraries.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0"/>
          </a:xfrm>
          <a:prstGeom prst="line">
            <a:avLst/>
          </a:prstGeom>
          <a:noFill/>
          <a:ln w="6350">
            <a:solidFill>
              <a:srgbClr val="DEE5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26883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E2E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6883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Selenium · Serenity · </a:t>
            </a:r>
            <a:r>
              <a:rPr lang="en-US" sz="1100" b="1" dirty="0" err="1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Cuccumber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94436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completos multi-browser. Playwright: TypeScript, Java y mayor velocidad.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8229600" cy="0"/>
          </a:xfrm>
          <a:prstGeom prst="line">
            <a:avLst/>
          </a:prstGeom>
          <a:noFill/>
          <a:ln w="6350">
            <a:solidFill>
              <a:srgbClr val="DEE5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9B6DFF">
              <a:alpha val="85000"/>
            </a:srgbClr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438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3694176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dirty="0" err="1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multiplataformas</a:t>
            </a: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según arquitectura del producto.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8229600" cy="0"/>
          </a:xfrm>
          <a:prstGeom prst="line">
            <a:avLst/>
          </a:prstGeom>
          <a:noFill/>
          <a:ln w="6350">
            <a:solidFill>
              <a:srgbClr val="DEE5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06292">
              <a:alpha val="85000"/>
            </a:srgbClr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57200" y="41879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AS400 / Legado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4187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JT400 wrapper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4443984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Envolver RPG/COBOL con Java wrapper que expone el legado como servicios testables.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4F8EF7">
              <a:alpha val="20000"/>
            </a:srgbClr>
          </a:solidFill>
          <a:ln w="762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</a:rPr>
              <a:t>JAVA · JUnit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— Spring Boot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AAA (Arrange · Act · Assert) con Mockito para dependencias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19"/>
            <a:ext cx="4160520" cy="4125813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8404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252728"/>
            <a:ext cx="39044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UserServiceTest.java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UserServiceTest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@Mock private UserRepository userRepository;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@Mock private EmailService emailService;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@InjectMocks private UserService userService;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testCreateUserSuccess()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Arrange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email = "juan@example.com";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when(userRepository.save(any()))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.thenReturn(new User(email, "Juan"));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result = userService.createUser(email, "Juan");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assertNotNull(result);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assertEquals(email, result.getEmail());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verify(userRepository, times(1)).save(any());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verify(emailService).sendWelcomeEmail(email);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55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Maven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9286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1114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2943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1252728"/>
            <a:ext cx="3675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Dependencias pom.xml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&lt;groupId&gt;org.springframework.boot&lt;/groupId&gt;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&lt;artifactId&gt;spring-boot-starter-test&lt;/artifactId&gt;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&lt;version&gt;3.0.0&lt;/version&gt;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&lt;scope&gt;test&lt;/scope&gt;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&lt;groupId&gt;org.mockito&lt;/groupId&gt;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&lt;artifactId&gt;mockito-core&lt;/artifactId&gt;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&lt;version&gt;5.2.0&lt;/version&gt;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2907792"/>
            <a:ext cx="3931920" cy="1984248"/>
          </a:xfrm>
          <a:prstGeom prst="roundRect">
            <a:avLst>
              <a:gd name="adj" fmla="val 4608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55280" y="296265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2962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Edge case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28616" y="299923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111496" y="299923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294376" y="299923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65192" y="3200400"/>
            <a:ext cx="3675888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testCreateUser_EmptyEmail_Throws()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Act &amp; Assert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assertThrows(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IllegalArgumentException.class,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() -&gt; userService.createUser("", "Juan")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Verificar que NO se guardó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verify(userRepository, never()).save(any());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verify(emailService, never())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.sendWelcomeEmail(anyString());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5A623">
              <a:alpha val="20000"/>
            </a:srgbClr>
          </a:solidFill>
          <a:ln w="762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NODE.JS · Jest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— Node.js / Express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mocks para aislar dependencias · async/await nativo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8404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JavaScript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252728"/>
            <a:ext cx="39044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userService.test.js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UserService = require('./userService');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describe('UserService', ()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userService, userRepository, emailService;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beforeEach(()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userRepository =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save: jest.fn(),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findById: jest.fn(),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emailService = { sendWelcomeEmail: jest.fn() };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userService = new UserService(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userRepository, emailService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test('should create user successfully', async ()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email = 'juan@example.com';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userRepository.save.mockResolvedValue({ email });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result = await userService.createUser(email, 'Juan');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expect(result.email).toBe(email);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expect(userRepository.save).toHaveBeenCalledWith({ email, name: 'Juan' });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expect(emailService.sendWelcomeEmail).toHaveBeenCalledWith(email);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55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Config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9286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1114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2943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1252728"/>
            <a:ext cx="3675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"test": "jest",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"test:watch": "jest --watch",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"test:coverage": "jest --coverage"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"devDependencies":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"jest": "^29.5.0",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"supertest": "^6.3.3"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2907792"/>
            <a:ext cx="3931920" cy="1984248"/>
          </a:xfrm>
          <a:prstGeom prst="roundRect">
            <a:avLst>
              <a:gd name="adj" fmla="val 4608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55280" y="296265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2962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Edge case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28616" y="299923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111496" y="299923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294376" y="299923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65192" y="3200400"/>
            <a:ext cx="3675888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test('empty email throws error', async ()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userService.createUser('', 'Juan')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).rejects.toThrow('Email cannot be empty');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expect(userRepository.save)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.not.toHaveBeenCalled();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expect(emailService.sendWelcomeEmail)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.not.toHaveBeenCalled();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Ejecutar: npm test -- --watch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2ECC9A">
              <a:alpha val="20000"/>
            </a:srgbClr>
          </a:solidFill>
          <a:ln w="762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CC9A"/>
                </a:solidFill>
              </a:rPr>
              <a:t>PYTHON · pytest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— Python / FastAPI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fixtures · unittest.mock para dependencias · sintaxis limpia y expresiva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60520" cy="4085766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8404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Python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252728"/>
            <a:ext cx="39044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test_user_service.py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unittest.mock import Mock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user_service import UserService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TestUserService: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@pytest.fixture(autouse=True)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setup(self):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self.user_repository = Mock()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self.email_service = Mock()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self.user_service = UserService(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self.user_repository,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self.email_service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test_create_user_success(self):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email = 'juan@example.com'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self.user_service.create_user(email, 'Juan')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result['email'] == email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self.user_repository.save.assert_called_once()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self.email_service.send_welcome_email\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.assert_called_once_with(email)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test_empty_email_raises(self):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pytest.raises(ValueError, match='Email cannot be empty'):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self.user_service.create_user('', 'Juan')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self.user_repository.save.assert_not_called()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55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Setup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9286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1114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2943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1252728"/>
            <a:ext cx="367588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requirements-dev.txt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pytest==7.3.1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pytest-asyncio==0.21.0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pytest-mock==3.10.0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httpx==0.24.0   # async test client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                   # todos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                 # verbose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--cov=app          # coverage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-k 'test_create'   # filtrar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2770632"/>
            <a:ext cx="3931920" cy="2121408"/>
          </a:xfrm>
          <a:prstGeom prst="roundRect">
            <a:avLst>
              <a:gd name="adj" fmla="val 4310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55280" y="282549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28254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Avanzado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28616" y="286207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111496" y="28620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294376" y="28620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65192" y="3063240"/>
            <a:ext cx="3675888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test_get_user_not_found(self):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Arrange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self.user_repository.find_by_id\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.return_value = None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Act &amp; Assert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pytest.raises(Exception,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match='User not found'):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self.user_service.get_user_by_id(999)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conftest.py (fixtures globales)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@pytest.fixture(scope='session')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db_connection():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create_test_db()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06292">
              <a:alpha val="20000"/>
            </a:srgbClr>
          </a:solidFill>
          <a:ln w="762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6292"/>
                </a:solidFill>
              </a:rPr>
              <a:t>AS400 · JT400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nitarias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Sistemas Legados — AS400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wrapper sobre RPG/COBOL · JUnit 5 · Biblioteca IBM JT400 (Toolbox for Java)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60520" cy="2212848"/>
          </a:xfrm>
          <a:prstGeom prst="roundRect">
            <a:avLst>
              <a:gd name="adj" fmla="val 4132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8404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Maven + Pool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252728"/>
            <a:ext cx="3904488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pom.xml — Dependencia JT400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&lt;groupId&gt;com.ibm.as400&lt;/groupId&gt;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&lt;artifactId&gt;jt400&lt;/artifactId&gt;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&lt;version&gt;11.0&lt;/version&gt;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AS400ConnectionPool.java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AS400ConnectionPool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AS400 getConnection()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AS400(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"hostname", "user", "password"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160520" cy="1720674"/>
          </a:xfrm>
          <a:prstGeom prst="roundRect">
            <a:avLst>
              <a:gd name="adj" fmla="val 5714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840480" y="334670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840480" y="3346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Base Class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85216" y="338328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68096" y="338328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950976" y="338328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21792" y="3584448"/>
            <a:ext cx="39044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AS400TestBase.java — Clase base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abstract class AS400TestBase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AS400 as400;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@Before public void setup()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as400 = AS400ConnectionPool.getConnection();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@After public void teardown()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as400.disconnectAllServices();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3931920" cy="4052394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55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Test RPG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286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1114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2943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65192" y="1252728"/>
            <a:ext cx="36758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RPGWrapper.java — Test del programa RPG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RPGWrapperTest extends AS400TestBase {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testRPGFunction()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Llamar programa RPG desde Java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ProgramCall pc = new ProgramCall(as400);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pc.setProgram(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"/QSYS.LIB/TULIB.LIB/MYPROG.PGM"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ProgramParameter[] params 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ProgramParameter[2];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Input: valor 100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params[0] = new ProgramParameter(100);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Output: buffer de salida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params[1] = new ProgramParameter(10);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pc.run(params);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byte[] output = params[1].getOutputData();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resultado = BinaryConverter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.byteArrayToInt(output, 0);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Verificar resultado esperado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assertEquals(110, resultado);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Ejecutar: mvn test -Dtest=RPGWrapperTest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06292">
              <a:alpha val="20000"/>
            </a:srgbClr>
          </a:solidFill>
          <a:ln w="762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6292"/>
                </a:solidFill>
              </a:rPr>
              <a:t>API · Karate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 — Karate DSL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BDD Gherkin · Validación de respuestas JSON · Sin código Java adicional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19"/>
            <a:ext cx="4846320" cy="4045719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26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26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Karate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252728"/>
            <a:ext cx="45902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user_api.feature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User API Tests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url 'http://localhost:8080/api'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header Content-Type = 'application/json'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Create user successfully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path '/users'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request { email: 'juan@example.com',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name: 'Juan Pérez'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method post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status 201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match response ==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id: '#number',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email: 'juan@example.com',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'Juan Pérez'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User not found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path '/users/999'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method get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status 404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Invalid email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path '/users'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request { email: '', name: 'Juan'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method post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status 400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match response.error == 'Email is required'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0" y="96012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55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Runner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6144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7972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9801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650992" y="1252728"/>
            <a:ext cx="29900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UserApiTest.java (runner)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com.intuit.karate.junit5.Karate;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UserApiTest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@Karate.Test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Karate testAll()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Karate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.run("classpath:features")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.relativeTo(getClass());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Ejecutar: mvn 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2907792"/>
            <a:ext cx="3246120" cy="1984248"/>
          </a:xfrm>
          <a:prstGeom prst="roundRect">
            <a:avLst>
              <a:gd name="adj" fmla="val 4608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55280" y="296265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2962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Maven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614416" y="299923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797296" y="299923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980176" y="299923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650992" y="3200400"/>
            <a:ext cx="2990088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pom.xml --&gt;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&lt;groupId&gt;com.intuit.karate&lt;/groupId&gt;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&lt;artifactId&gt;karate-junit5&lt;/artifactId&gt;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&lt;version&gt;1.3.1&lt;/version&gt;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&lt;scope&gt;test&lt;/scope&gt;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 por tag: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 -Dkarate.options=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"--tags @smoke"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9B6DFF">
              <a:alpha val="20000"/>
            </a:srgbClr>
          </a:solidFill>
          <a:ln w="762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6DFF"/>
                </a:solidFill>
              </a:rPr>
              <a:t>E2E · Serenity BDD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Backend — Serenity + Cucumber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completos de negocio · Reportes HTML detallados · Integración REST Assured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8404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Feature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252728"/>
            <a:ext cx="39044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user_registration.feature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User Registration E2E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the user is on the system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the database is clean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@smoke @e2e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User registers successfully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the user wants to register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the user provides valid details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email    | juan@example.com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password | SecurePass123!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name     | Juan Pérez       |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user confirms the registration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system should create the user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a confirmation email should be sent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user can login with new credentials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@regression @e2e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Duplicate email is rejected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a user already exists with email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"existing@example.com"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a new user tries with the same email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system shows error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"Email already registered"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only one user exists with that email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19"/>
            <a:ext cx="3931920" cy="4125813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55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Steps Java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9286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1114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2943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1252728"/>
            <a:ext cx="36758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UserRegistrationSteps.java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UserRegistrationSteps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baseUrl 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"http://localhost:8080/api";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Response lastResponse;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Map&lt;String,String&gt; data;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@Given("the database is clean")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databaseIsClean()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given().when()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.delete(baseUrl + "/test/cleanup")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.then().statusCode(204);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@When("the user confirms the registration")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userConfirmsRegistration()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lastResponse = given()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.contentType("application/json")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.body(data)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.when().post(baseUrl + "/auth/register")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.then().extract().response();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@Then("the system should create the user")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systemCreatesUser()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assertThat(lastResponse.statusCode())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.isEqualTo(201);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assertThat(lastResponse.jsonPath()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.getString("id")).isNotNull();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5A623">
              <a:alpha val="20000"/>
            </a:srgbClr>
          </a:solidFill>
          <a:ln w="762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E2E · Playwright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Frontend Web — Playwright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 (Chrome / Firefox / Safari) · TypeScript nativo · Modo UI y trazas de debug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60520" cy="4119138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8404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TypeScript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252728"/>
            <a:ext cx="39044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e2e/user-registration.spec.ts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test, expect } from '@playwright/test';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test.describe('User Registration E2E', () =&gt; {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test.beforeEach(async ({ page })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page.goto('/register');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test('register successfully', async ({ page })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email = `user-${Date.now()}@test.com`;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page.fill('[data-testid=email-input]', email);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page.fill('[data-testid=password-input]',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'SecurePassword123');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page.fill('[data-testid=name-input]',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'Juan Test');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page.click('[data-testid=submit-button]');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page.locator('[data-testid=success-message]')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).toBeVisible();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page.locator('[data-testid=success-message]')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).toContainText('Registration successful');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test('show error for invalid email', async ({ page })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page.fill('[data-testid=email-input]', 'bad');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page.click('[data-testid=submit-button]');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page.locator('[data-testid=email-error]')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).toBeVisible();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19"/>
            <a:ext cx="3931920" cy="1884165"/>
          </a:xfrm>
          <a:prstGeom prst="roundRect">
            <a:avLst>
              <a:gd name="adj" fmla="val 5000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55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Config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9286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1114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2943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1113499"/>
            <a:ext cx="36758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playwright.config.ts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defineConfig({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testDir: './e2e',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fullyParallel: true,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retries: process.env.CI ? 2 : 0,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reporter: [['html'], ['junit',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outputFile: 'results.xml' }]],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use: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baseURL: 'http://localhost:3000',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trace: 'on-first-retry',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screenshot: 'only-on-failure',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projects: [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'chromium'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'firefox'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'webkit' },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4800600" y="2907791"/>
            <a:ext cx="3931920" cy="2098047"/>
          </a:xfrm>
          <a:prstGeom prst="roundRect">
            <a:avLst>
              <a:gd name="adj" fmla="val 4608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55280" y="296265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2962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CLI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28616" y="299923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111496" y="299923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294376" y="299923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65192" y="3200400"/>
            <a:ext cx="3675888" cy="1741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Comandos clave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install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Ejecutar todos los tests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Modo UI (recomendado para debug)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--ui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Navegador específico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--project=chromium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Generar tests automáticamente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codegen http://localhost:3000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2ECC9A">
              <a:alpha val="20000"/>
            </a:srgbClr>
          </a:solidFill>
          <a:ln w="762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CC9A"/>
                </a:solidFill>
              </a:rPr>
              <a:t>CI/CD · GitHub Actions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Automatización CI/CD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automática en cada PR · Reporte Allure · Notificación Slack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074920" cy="4183380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7548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7548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YAML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21792" y="1252728"/>
            <a:ext cx="4818888" cy="3890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.github/workflows/test.yml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Test Suite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[main, develop]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unit-tests: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actions/checkout@v3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Set up JDK 17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actions/setup-java@v3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java-version: '17' 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unit tests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mvn test -Dtest='*UnitTest'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API tests (Karate)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mvn test -Dtest='*ApiTest'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E2E Playwright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|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npm ci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npx playwright install --with-deps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npx playwright test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Upload Allure results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actions/upload-artifact@v3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name: allure-results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target/allure-results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715000" y="960120"/>
            <a:ext cx="3017520" cy="1920240"/>
          </a:xfrm>
          <a:prstGeom prst="roundRect">
            <a:avLst>
              <a:gd name="adj" fmla="val 4762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55280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955280" y="1014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Job Integración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8430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0258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2087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879592" y="1252728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integration-tests: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unit-tests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postgres:14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POSTGRES_PASSWORD: test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options: --health-cmd pg_isready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integration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mvn test -Dtest='*IntTest'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DB_URL: postgres://localhost/test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715000" y="2999232"/>
            <a:ext cx="3017520" cy="1892808"/>
          </a:xfrm>
          <a:prstGeom prst="roundRect">
            <a:avLst>
              <a:gd name="adj" fmla="val 4831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55280" y="305409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55280" y="3054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Notificación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843016" y="309067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025896" y="30906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208776" y="30906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879592" y="3291840"/>
            <a:ext cx="2761488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notify: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[unit-tests, integration-tests]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if: always()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Slack notification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8398a7/action-slack@v3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status: ${{ job.status }}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text: 'Test Suite: ${{ job.status }}'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SLACK_WEBHOOK_URL: ${{ secrets.SLACK_WEBHOOK }}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583CC-ACDD-E6CA-D1ED-1629F96B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372B19-DBF2-18B6-5448-C832F9352AD4}"/>
              </a:ext>
            </a:extLst>
          </p:cNvPr>
          <p:cNvSpPr/>
          <p:nvPr/>
        </p:nvSpPr>
        <p:spPr>
          <a:xfrm>
            <a:off x="457200" y="228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2ECC9A">
              <a:alpha val="20000"/>
            </a:srgbClr>
          </a:solidFill>
          <a:ln w="762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92A827-C0A7-28DB-FDE5-3A85E4AB732B}"/>
              </a:ext>
            </a:extLst>
          </p:cNvPr>
          <p:cNvSpPr/>
          <p:nvPr/>
        </p:nvSpPr>
        <p:spPr>
          <a:xfrm>
            <a:off x="457200" y="228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CC9A"/>
                </a:solidFill>
              </a:rPr>
              <a:t>CI/CD · GitHub Actions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075F67-B665-B6F3-83C3-A8CEF03D6D1F}"/>
              </a:ext>
            </a:extLst>
          </p:cNvPr>
          <p:cNvSpPr/>
          <p:nvPr/>
        </p:nvSpPr>
        <p:spPr>
          <a:xfrm>
            <a:off x="1828800" y="20116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Automatización CI/CD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FBD244-5EBD-05DF-9211-E4B05589ED65}"/>
              </a:ext>
            </a:extLst>
          </p:cNvPr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automática en cada PR · Reporte Allure ·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45731D-3169-B47E-1713-6BB6D6DA101B}"/>
              </a:ext>
            </a:extLst>
          </p:cNvPr>
          <p:cNvSpPr/>
          <p:nvPr/>
        </p:nvSpPr>
        <p:spPr>
          <a:xfrm>
            <a:off x="457199" y="960120"/>
            <a:ext cx="8046053" cy="4183380"/>
          </a:xfrm>
          <a:prstGeom prst="roundRect">
            <a:avLst>
              <a:gd name="adj" fmla="val 2326"/>
            </a:avLst>
          </a:prstGeom>
          <a:solidFill>
            <a:srgbClr val="1E2435"/>
          </a:solidFill>
          <a:ln w="10160">
            <a:solidFill>
              <a:srgbClr val="2E3A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B4906A-4AC9-D168-974A-F242DB7FA339}"/>
              </a:ext>
            </a:extLst>
          </p:cNvPr>
          <p:cNvSpPr/>
          <p:nvPr/>
        </p:nvSpPr>
        <p:spPr>
          <a:xfrm>
            <a:off x="7698313" y="101498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29EE26-BC44-BCB5-7551-E9941773B58F}"/>
              </a:ext>
            </a:extLst>
          </p:cNvPr>
          <p:cNvSpPr/>
          <p:nvPr/>
        </p:nvSpPr>
        <p:spPr>
          <a:xfrm>
            <a:off x="7698313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Pipeline</a:t>
            </a:r>
            <a:endParaRPr lang="en-US" sz="7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BE23E0E-D1DC-C2EB-FF09-7435916FBEDC}"/>
              </a:ext>
            </a:extLst>
          </p:cNvPr>
          <p:cNvSpPr/>
          <p:nvPr/>
        </p:nvSpPr>
        <p:spPr>
          <a:xfrm>
            <a:off x="585216" y="10515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66B9241-0874-7B7D-01B9-7B485E50F7D7}"/>
              </a:ext>
            </a:extLst>
          </p:cNvPr>
          <p:cNvSpPr/>
          <p:nvPr/>
        </p:nvSpPr>
        <p:spPr>
          <a:xfrm>
            <a:off x="768096" y="10515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905B589-98F7-60EB-590F-8B432467AFD3}"/>
              </a:ext>
            </a:extLst>
          </p:cNvPr>
          <p:cNvSpPr/>
          <p:nvPr/>
        </p:nvSpPr>
        <p:spPr>
          <a:xfrm>
            <a:off x="950976" y="10515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3BBADE68-08CB-4610-FE10-E974BCC74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08" y="1870225"/>
            <a:ext cx="7129984" cy="179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24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del Piloto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automatices todo — elige el producto correcto para comenzar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1E2435"/>
          </a:solidFill>
          <a:ln w="635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Crítico para el negocio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57276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1E2435"/>
          </a:solidFill>
          <a:ln w="635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892040" y="15727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Flujos claros y documentados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1E2435"/>
          </a:solidFill>
          <a:ln w="635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Complejidad manejable (sin AS400 aún)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39572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1E2435"/>
          </a:solidFill>
          <a:ln w="6350">
            <a:solidFill>
              <a:srgbClr val="3A40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892040" y="239572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Soporte activo del equipo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536192"/>
          </a:xfrm>
          <a:prstGeom prst="roundRect">
            <a:avLst>
              <a:gd name="adj" fmla="val 5952"/>
            </a:avLst>
          </a:prstGeom>
          <a:solidFill>
            <a:srgbClr val="4F8EF7">
              <a:alpha val="1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Piloto recomendado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+ Frontend Web  ·  Sin AS400 en la primera iteración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valor rápidamente y genera confianza del equipo antes de escalar al legado.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Piloto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457200" cy="45720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Infraestructura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745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Repositorio centralizado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/ GitLab / Bitbucket)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54203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Pipeline CI/CD 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Actions / Jenkins)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20954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 environment estable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controlados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87705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Reporting centralizado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(Allure Report / TestRail)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64608" y="1371600"/>
            <a:ext cx="457200" cy="457200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6460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4173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Suite Base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64608" y="1901952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4F8EF7">
              <a:alpha val="12000"/>
            </a:srgbClr>
          </a:solidFill>
          <a:ln w="1016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047488" y="1956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Pruebas unitarias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2286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core · JUnit / pytest / Jest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64608" y="2798064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2ECC9A">
              <a:alpha val="12000"/>
            </a:srgbClr>
          </a:solidFill>
          <a:ln w="1016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047488" y="2852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Pruebas de API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3182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integración · Karate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64608" y="3694176"/>
            <a:ext cx="3566160" cy="749808"/>
          </a:xfrm>
          <a:prstGeom prst="roundRect">
            <a:avLst>
              <a:gd name="adj" fmla="val 8537"/>
            </a:avLst>
          </a:prstGeom>
          <a:solidFill>
            <a:srgbClr val="F5A623">
              <a:alpha val="12000"/>
            </a:srgbClr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047488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Pruebas E2E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40782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crítico · Playwright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463600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demostrar valor rápido y ganar confianza del equipo.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Herramientas Centralizadas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compartido por todos los equipos y líneas de producto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8912" y="1143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03504" y="13075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4F8EF7">
              <a:alpha val="8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03504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18928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410712" y="13075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2ECC9A">
              <a:alpha val="85000"/>
            </a:srgbClr>
          </a:solidFill>
          <a:ln w="12700">
            <a:solidFill>
              <a:srgbClr val="2ECC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410712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8928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Jenkins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53328" y="1143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217920" y="13075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21792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90488" y="18928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· TestRail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03504" y="31363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9B6DFF">
              <a:alpha val="85000"/>
            </a:srgbClr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03504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" y="3721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Dashboard custom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410712" y="31363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06292">
              <a:alpha val="85000"/>
            </a:srgbClr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41071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83280" y="3721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· Wiki en repo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53328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EE5F2"/>
            </a:solidFill>
            <a:prstDash val="solid"/>
          </a:ln>
          <a:effectLst>
            <a:outerShdw blurRad="1270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217920" y="31363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B923C">
              <a:alpha val="85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2179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90488" y="3721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0488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o teams, </a:t>
            </a:r>
            <a:r>
              <a:rPr lang="en-US" sz="1000" dirty="0" err="1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dirty="0" err="1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</a:t>
            </a:r>
            <a:r>
              <a:rPr lang="en-US" sz="1000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3515</Words>
  <Application>Microsoft Macintosh PowerPoint</Application>
  <PresentationFormat>Presentación en pantalla (16:9)</PresentationFormat>
  <Paragraphs>664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de Automatización de Pruebas</dc:title>
  <dc:subject>PptxGenJS Presentation</dc:subject>
  <dc:creator>PptxGenJS</dc:creator>
  <cp:lastModifiedBy>Jorge Alejandro Aguirre Gutierrez</cp:lastModifiedBy>
  <cp:revision>6</cp:revision>
  <dcterms:created xsi:type="dcterms:W3CDTF">2026-06-24T18:45:33Z</dcterms:created>
  <dcterms:modified xsi:type="dcterms:W3CDTF">2026-06-27T01:00:26Z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2026-06-25T13:59:11Z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7d384eb0-2611-4857-bb4e-23aa35a17f82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50, 3, 0, 1</vt:lpwstr>
  </property>
</Properties>
</file>